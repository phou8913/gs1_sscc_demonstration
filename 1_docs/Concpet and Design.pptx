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B45F0-D1E9-434D-A284-0B0DE586A1B6}" v="5" dt="2026-03-20T15:35:10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49"/>
    <p:restoredTop sz="94497"/>
  </p:normalViewPr>
  <p:slideViewPr>
    <p:cSldViewPr snapToGrid="0">
      <p:cViewPr varScale="1">
        <p:scale>
          <a:sx n="191" d="100"/>
          <a:sy n="191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Zhang" userId="0ea7bc01-89b9-4a71-a707-ff7cc5b2e1ce" providerId="ADAL" clId="{E4224710-4198-523A-A356-FE8CCFEBCD2A}"/>
    <pc:docChg chg="undo custSel addSld modSld">
      <pc:chgData name="Jian Zhang" userId="0ea7bc01-89b9-4a71-a707-ff7cc5b2e1ce" providerId="ADAL" clId="{E4224710-4198-523A-A356-FE8CCFEBCD2A}" dt="2026-03-20T15:38:36.525" v="728" actId="27636"/>
      <pc:docMkLst>
        <pc:docMk/>
      </pc:docMkLst>
      <pc:sldChg chg="modSp mod">
        <pc:chgData name="Jian Zhang" userId="0ea7bc01-89b9-4a71-a707-ff7cc5b2e1ce" providerId="ADAL" clId="{E4224710-4198-523A-A356-FE8CCFEBCD2A}" dt="2026-03-20T15:37:56.727" v="724" actId="20577"/>
        <pc:sldMkLst>
          <pc:docMk/>
          <pc:sldMk cId="3134355096" sldId="258"/>
        </pc:sldMkLst>
        <pc:spChg chg="mod">
          <ac:chgData name="Jian Zhang" userId="0ea7bc01-89b9-4a71-a707-ff7cc5b2e1ce" providerId="ADAL" clId="{E4224710-4198-523A-A356-FE8CCFEBCD2A}" dt="2026-03-20T15:37:56.727" v="724" actId="20577"/>
          <ac:spMkLst>
            <pc:docMk/>
            <pc:sldMk cId="3134355096" sldId="258"/>
            <ac:spMk id="3" creationId="{72EB496D-2DA5-E7AA-BFA5-0F47E82607B2}"/>
          </ac:spMkLst>
        </pc:spChg>
      </pc:sldChg>
      <pc:sldChg chg="addSp delSp modSp new mod">
        <pc:chgData name="Jian Zhang" userId="0ea7bc01-89b9-4a71-a707-ff7cc5b2e1ce" providerId="ADAL" clId="{E4224710-4198-523A-A356-FE8CCFEBCD2A}" dt="2026-03-20T15:38:36.525" v="728" actId="27636"/>
        <pc:sldMkLst>
          <pc:docMk/>
          <pc:sldMk cId="4227997026" sldId="259"/>
        </pc:sldMkLst>
        <pc:spChg chg="mod">
          <ac:chgData name="Jian Zhang" userId="0ea7bc01-89b9-4a71-a707-ff7cc5b2e1ce" providerId="ADAL" clId="{E4224710-4198-523A-A356-FE8CCFEBCD2A}" dt="2026-03-20T15:27:34.385" v="245" actId="20577"/>
          <ac:spMkLst>
            <pc:docMk/>
            <pc:sldMk cId="4227997026" sldId="259"/>
            <ac:spMk id="2" creationId="{72C39524-12CE-6E93-9CD3-4B5FBF82A2AF}"/>
          </ac:spMkLst>
        </pc:spChg>
        <pc:spChg chg="add del mod">
          <ac:chgData name="Jian Zhang" userId="0ea7bc01-89b9-4a71-a707-ff7cc5b2e1ce" providerId="ADAL" clId="{E4224710-4198-523A-A356-FE8CCFEBCD2A}" dt="2026-03-20T15:35:12.288" v="455" actId="478"/>
          <ac:spMkLst>
            <pc:docMk/>
            <pc:sldMk cId="4227997026" sldId="259"/>
            <ac:spMk id="3" creationId="{78636DEA-A84F-2388-58F9-069D2FCAF8BC}"/>
          </ac:spMkLst>
        </pc:spChg>
        <pc:spChg chg="add mod">
          <ac:chgData name="Jian Zhang" userId="0ea7bc01-89b9-4a71-a707-ff7cc5b2e1ce" providerId="ADAL" clId="{E4224710-4198-523A-A356-FE8CCFEBCD2A}" dt="2026-03-20T15:35:10.663" v="454" actId="164"/>
          <ac:spMkLst>
            <pc:docMk/>
            <pc:sldMk cId="4227997026" sldId="259"/>
            <ac:spMk id="6" creationId="{34B46B4D-F697-18D5-38C1-B3121513EEC2}"/>
          </ac:spMkLst>
        </pc:spChg>
        <pc:spChg chg="add mod">
          <ac:chgData name="Jian Zhang" userId="0ea7bc01-89b9-4a71-a707-ff7cc5b2e1ce" providerId="ADAL" clId="{E4224710-4198-523A-A356-FE8CCFEBCD2A}" dt="2026-03-20T15:38:36.525" v="728" actId="27636"/>
          <ac:spMkLst>
            <pc:docMk/>
            <pc:sldMk cId="4227997026" sldId="259"/>
            <ac:spMk id="7" creationId="{E85E7097-FABE-02F6-F8D1-334C54DDC2E5}"/>
          </ac:spMkLst>
        </pc:spChg>
        <pc:spChg chg="add del mod">
          <ac:chgData name="Jian Zhang" userId="0ea7bc01-89b9-4a71-a707-ff7cc5b2e1ce" providerId="ADAL" clId="{E4224710-4198-523A-A356-FE8CCFEBCD2A}" dt="2026-03-20T15:35:03.961" v="452" actId="478"/>
          <ac:spMkLst>
            <pc:docMk/>
            <pc:sldMk cId="4227997026" sldId="259"/>
            <ac:spMk id="9" creationId="{5069A575-17DC-5F3C-1BC5-0E99BBFB748D}"/>
          </ac:spMkLst>
        </pc:spChg>
        <pc:spChg chg="add del mod">
          <ac:chgData name="Jian Zhang" userId="0ea7bc01-89b9-4a71-a707-ff7cc5b2e1ce" providerId="ADAL" clId="{E4224710-4198-523A-A356-FE8CCFEBCD2A}" dt="2026-03-20T15:35:14.700" v="456" actId="478"/>
          <ac:spMkLst>
            <pc:docMk/>
            <pc:sldMk cId="4227997026" sldId="259"/>
            <ac:spMk id="12" creationId="{712801BF-79DE-7E42-A9E0-9FC40F071027}"/>
          </ac:spMkLst>
        </pc:spChg>
        <pc:grpChg chg="add mod">
          <ac:chgData name="Jian Zhang" userId="0ea7bc01-89b9-4a71-a707-ff7cc5b2e1ce" providerId="ADAL" clId="{E4224710-4198-523A-A356-FE8CCFEBCD2A}" dt="2026-03-20T15:35:10.663" v="454" actId="164"/>
          <ac:grpSpMkLst>
            <pc:docMk/>
            <pc:sldMk cId="4227997026" sldId="259"/>
            <ac:grpSpMk id="10" creationId="{D8991E29-0FFC-6CD0-9728-45F76ECF660E}"/>
          </ac:grpSpMkLst>
        </pc:grpChg>
        <pc:picChg chg="add mod modCrop">
          <ac:chgData name="Jian Zhang" userId="0ea7bc01-89b9-4a71-a707-ff7cc5b2e1ce" providerId="ADAL" clId="{E4224710-4198-523A-A356-FE8CCFEBCD2A}" dt="2026-03-20T15:35:10.663" v="454" actId="164"/>
          <ac:picMkLst>
            <pc:docMk/>
            <pc:sldMk cId="4227997026" sldId="259"/>
            <ac:picMk id="5" creationId="{F35AF0FF-500A-BC07-D8AE-E897F5EC34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1618-34E9-680F-052A-3FAECA55E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SSCC++ Inspection Robot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F6FB2-CE9B-5E77-B691-A7140BC4E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 and concept of a robotic demonstration for SSCC++ RFID technique</a:t>
            </a:r>
          </a:p>
          <a:p>
            <a:pPr algn="r"/>
            <a:r>
              <a:rPr lang="en-US" dirty="0"/>
              <a:t>Author: Jian Zhang</a:t>
            </a:r>
          </a:p>
          <a:p>
            <a:pPr algn="r"/>
            <a:r>
              <a:rPr lang="en-US" dirty="0"/>
              <a:t>January 21</a:t>
            </a:r>
            <a:r>
              <a:rPr lang="en-US" baseline="30000" dirty="0"/>
              <a:t>st,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58195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5CC5-18FC-85DF-E40A-0A12CE44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290" y="637363"/>
            <a:ext cx="8911687" cy="614968"/>
          </a:xfrm>
        </p:spPr>
        <p:txBody>
          <a:bodyPr>
            <a:normAutofit fontScale="90000"/>
          </a:bodyPr>
          <a:lstStyle/>
          <a:p>
            <a:r>
              <a:rPr lang="en-US" dirty="0"/>
              <a:t>Goal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704B-3051-3DAE-0325-DF3D1ABE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290" y="1444487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mobile robot capable of interpreting </a:t>
            </a:r>
            <a:r>
              <a:rPr lang="en-US" b="1" dirty="0"/>
              <a:t>SSCC++-encoded RFID data</a:t>
            </a:r>
            <a:r>
              <a:rPr lang="en-US" dirty="0"/>
              <a:t>, demonstrating the advantages of the </a:t>
            </a:r>
            <a:r>
              <a:rPr lang="en-US" b="1" dirty="0"/>
              <a:t>SSCC++ protocol</a:t>
            </a:r>
            <a:r>
              <a:rPr lang="en-US" dirty="0"/>
              <a:t> at the </a:t>
            </a:r>
            <a:r>
              <a:rPr lang="en-US" b="1" dirty="0"/>
              <a:t>GS1 Connect 2026 Conference</a:t>
            </a:r>
            <a:r>
              <a:rPr lang="en-US" dirty="0"/>
              <a:t>.</a:t>
            </a:r>
          </a:p>
          <a:p>
            <a:r>
              <a:rPr lang="en-US" dirty="0"/>
              <a:t>A robot can proactively read SSCC++  RFID data</a:t>
            </a:r>
          </a:p>
          <a:p>
            <a:r>
              <a:rPr lang="en-US" dirty="0"/>
              <a:t>Validate the data from tag to action properly, for example to search the child tags if they all present.</a:t>
            </a:r>
          </a:p>
          <a:p>
            <a:r>
              <a:rPr lang="en-US" dirty="0"/>
              <a:t>Show the results </a:t>
            </a:r>
          </a:p>
        </p:txBody>
      </p:sp>
    </p:spTree>
    <p:extLst>
      <p:ext uri="{BB962C8B-B14F-4D97-AF65-F5344CB8AC3E}">
        <p14:creationId xmlns:p14="http://schemas.microsoft.com/office/powerpoint/2010/main" val="166626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76C9-BA9F-066E-A4C5-F6919DBE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496D-2DA5-E7AA-BFA5-0F47E826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099" y="2110616"/>
            <a:ext cx="7298258" cy="3777622"/>
          </a:xfrm>
        </p:spPr>
        <p:txBody>
          <a:bodyPr/>
          <a:lstStyle/>
          <a:p>
            <a:r>
              <a:rPr lang="en-US" dirty="0"/>
              <a:t>RFID enabled robot read SSCC++ encoded RFID tags</a:t>
            </a:r>
          </a:p>
          <a:p>
            <a:r>
              <a:rPr lang="en-US" dirty="0"/>
              <a:t>Interpret the SSCC and query information by reading EPC</a:t>
            </a:r>
          </a:p>
          <a:p>
            <a:r>
              <a:rPr lang="en-US" dirty="0"/>
              <a:t>Show SSCC query results</a:t>
            </a:r>
          </a:p>
          <a:p>
            <a:r>
              <a:rPr lang="en-US" dirty="0"/>
              <a:t>Additional actions by query results if applied.</a:t>
            </a:r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CD89992-28D9-F9EF-7C0B-FFFA8E25261B}"/>
              </a:ext>
            </a:extLst>
          </p:cNvPr>
          <p:cNvGrpSpPr/>
          <p:nvPr/>
        </p:nvGrpSpPr>
        <p:grpSpPr>
          <a:xfrm>
            <a:off x="1005192" y="2247731"/>
            <a:ext cx="1020377" cy="1395911"/>
            <a:chOff x="1005192" y="2247731"/>
            <a:chExt cx="1020377" cy="1395911"/>
          </a:xfrm>
        </p:grpSpPr>
        <p:sp>
          <p:nvSpPr>
            <p:cNvPr id="63" name="Google Shape;902;p30">
              <a:extLst>
                <a:ext uri="{FF2B5EF4-FFF2-40B4-BE49-F238E27FC236}">
                  <a16:creationId xmlns:a16="http://schemas.microsoft.com/office/drawing/2014/main" id="{376A26C0-4054-A89A-B817-13EC48E06E4E}"/>
                </a:ext>
              </a:extLst>
            </p:cNvPr>
            <p:cNvSpPr txBox="1"/>
            <p:nvPr/>
          </p:nvSpPr>
          <p:spPr>
            <a:xfrm>
              <a:off x="1005192" y="3305088"/>
              <a:ext cx="10203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RFID enabled Robots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8D4472A9-9A91-02F2-81F6-FF6E3D1DC21B}"/>
                </a:ext>
              </a:extLst>
            </p:cNvPr>
            <p:cNvGrpSpPr/>
            <p:nvPr/>
          </p:nvGrpSpPr>
          <p:grpSpPr>
            <a:xfrm>
              <a:off x="1166566" y="2247731"/>
              <a:ext cx="740916" cy="1068378"/>
              <a:chOff x="3064814" y="2659378"/>
              <a:chExt cx="740916" cy="1068378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CDFFF8F-1804-D82C-1653-B8F3CDC1C41E}"/>
                  </a:ext>
                </a:extLst>
              </p:cNvPr>
              <p:cNvGrpSpPr/>
              <p:nvPr/>
            </p:nvGrpSpPr>
            <p:grpSpPr>
              <a:xfrm flipH="1">
                <a:off x="3637903" y="3484633"/>
                <a:ext cx="147768" cy="137160"/>
                <a:chOff x="4975875" y="4806622"/>
                <a:chExt cx="137160" cy="137160"/>
              </a:xfrm>
            </p:grpSpPr>
            <p:sp>
              <p:nvSpPr>
                <p:cNvPr id="105" name="Donut 104">
                  <a:extLst>
                    <a:ext uri="{FF2B5EF4-FFF2-40B4-BE49-F238E27FC236}">
                      <a16:creationId xmlns:a16="http://schemas.microsoft.com/office/drawing/2014/main" id="{D6A3B7AB-D5DA-6781-EC98-C813DCEA9192}"/>
                    </a:ext>
                  </a:extLst>
                </p:cNvPr>
                <p:cNvSpPr/>
                <p:nvPr/>
              </p:nvSpPr>
              <p:spPr>
                <a:xfrm>
                  <a:off x="4975875" y="4806622"/>
                  <a:ext cx="137160" cy="137160"/>
                </a:xfrm>
                <a:prstGeom prst="donut">
                  <a:avLst>
                    <a:gd name="adj" fmla="val 25928"/>
                  </a:avLst>
                </a:prstGeom>
                <a:solidFill>
                  <a:srgbClr val="7F7F7F"/>
                </a:solidFill>
                <a:ln w="9525" cap="flat" cmpd="sng">
                  <a:solidFill>
                    <a:srgbClr val="1B386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470E1FCB-CAFE-3924-886E-20E26DC8801F}"/>
                    </a:ext>
                  </a:extLst>
                </p:cNvPr>
                <p:cNvSpPr/>
                <p:nvPr/>
              </p:nvSpPr>
              <p:spPr>
                <a:xfrm>
                  <a:off x="5014292" y="4845325"/>
                  <a:ext cx="59635" cy="5963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2" name="Google Shape;792;p29">
                <a:extLst>
                  <a:ext uri="{FF2B5EF4-FFF2-40B4-BE49-F238E27FC236}">
                    <a16:creationId xmlns:a16="http://schemas.microsoft.com/office/drawing/2014/main" id="{E37C6F22-2C28-7E48-7266-40FC6C40B819}"/>
                  </a:ext>
                </a:extLst>
              </p:cNvPr>
              <p:cNvSpPr/>
              <p:nvPr/>
            </p:nvSpPr>
            <p:spPr>
              <a:xfrm rot="5400000" flipH="1">
                <a:off x="3273901" y="3128826"/>
                <a:ext cx="308564" cy="726737"/>
              </a:xfrm>
              <a:prstGeom prst="cube">
                <a:avLst>
                  <a:gd name="adj" fmla="val 41611"/>
                </a:avLst>
              </a:prstGeom>
              <a:solidFill>
                <a:srgbClr val="D8D8D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E8FF132-19F5-70F4-D294-47079B00B668}"/>
                  </a:ext>
                </a:extLst>
              </p:cNvPr>
              <p:cNvGrpSpPr/>
              <p:nvPr/>
            </p:nvGrpSpPr>
            <p:grpSpPr>
              <a:xfrm flipH="1">
                <a:off x="3482258" y="3587421"/>
                <a:ext cx="147768" cy="137160"/>
                <a:chOff x="4975875" y="4806622"/>
                <a:chExt cx="137160" cy="137160"/>
              </a:xfrm>
            </p:grpSpPr>
            <p:sp>
              <p:nvSpPr>
                <p:cNvPr id="103" name="Donut 102">
                  <a:extLst>
                    <a:ext uri="{FF2B5EF4-FFF2-40B4-BE49-F238E27FC236}">
                      <a16:creationId xmlns:a16="http://schemas.microsoft.com/office/drawing/2014/main" id="{F9073317-EAB8-FD38-3435-CC03C7CC2C89}"/>
                    </a:ext>
                  </a:extLst>
                </p:cNvPr>
                <p:cNvSpPr/>
                <p:nvPr/>
              </p:nvSpPr>
              <p:spPr>
                <a:xfrm>
                  <a:off x="4975875" y="4806622"/>
                  <a:ext cx="137160" cy="137160"/>
                </a:xfrm>
                <a:prstGeom prst="donut">
                  <a:avLst>
                    <a:gd name="adj" fmla="val 25928"/>
                  </a:avLst>
                </a:prstGeom>
                <a:solidFill>
                  <a:srgbClr val="7F7F7F"/>
                </a:solidFill>
                <a:ln w="9525" cap="flat" cmpd="sng">
                  <a:solidFill>
                    <a:srgbClr val="1B386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8263840A-B6B1-2570-87D7-2283FEF93155}"/>
                    </a:ext>
                  </a:extLst>
                </p:cNvPr>
                <p:cNvSpPr/>
                <p:nvPr/>
              </p:nvSpPr>
              <p:spPr>
                <a:xfrm>
                  <a:off x="5014292" y="4845325"/>
                  <a:ext cx="59635" cy="5963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D46BC638-514E-447B-FBCF-FB80448632F7}"/>
                  </a:ext>
                </a:extLst>
              </p:cNvPr>
              <p:cNvGrpSpPr/>
              <p:nvPr/>
            </p:nvGrpSpPr>
            <p:grpSpPr>
              <a:xfrm flipH="1">
                <a:off x="3084486" y="3590596"/>
                <a:ext cx="147768" cy="137160"/>
                <a:chOff x="4975875" y="4806622"/>
                <a:chExt cx="137160" cy="137160"/>
              </a:xfrm>
            </p:grpSpPr>
            <p:sp>
              <p:nvSpPr>
                <p:cNvPr id="101" name="Donut 100">
                  <a:extLst>
                    <a:ext uri="{FF2B5EF4-FFF2-40B4-BE49-F238E27FC236}">
                      <a16:creationId xmlns:a16="http://schemas.microsoft.com/office/drawing/2014/main" id="{30EB72E2-6440-76F9-CD99-5A45DB067676}"/>
                    </a:ext>
                  </a:extLst>
                </p:cNvPr>
                <p:cNvSpPr/>
                <p:nvPr/>
              </p:nvSpPr>
              <p:spPr>
                <a:xfrm>
                  <a:off x="4975875" y="4806622"/>
                  <a:ext cx="137160" cy="137160"/>
                </a:xfrm>
                <a:prstGeom prst="donut">
                  <a:avLst>
                    <a:gd name="adj" fmla="val 25928"/>
                  </a:avLst>
                </a:prstGeom>
                <a:solidFill>
                  <a:srgbClr val="7F7F7F"/>
                </a:solidFill>
                <a:ln w="9525" cap="flat" cmpd="sng">
                  <a:solidFill>
                    <a:srgbClr val="1B386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90695F8F-281E-78E7-DCD6-5BF4D7E6645E}"/>
                    </a:ext>
                  </a:extLst>
                </p:cNvPr>
                <p:cNvSpPr/>
                <p:nvPr/>
              </p:nvSpPr>
              <p:spPr>
                <a:xfrm>
                  <a:off x="5014292" y="4845325"/>
                  <a:ext cx="59635" cy="5963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" name="Right Triangle 247">
                <a:extLst>
                  <a:ext uri="{FF2B5EF4-FFF2-40B4-BE49-F238E27FC236}">
                    <a16:creationId xmlns:a16="http://schemas.microsoft.com/office/drawing/2014/main" id="{E92AAFAB-D9D6-D152-978F-BA80061D62DE}"/>
                  </a:ext>
                </a:extLst>
              </p:cNvPr>
              <p:cNvSpPr/>
              <p:nvPr/>
            </p:nvSpPr>
            <p:spPr>
              <a:xfrm rot="2789572">
                <a:off x="3537286" y="2780535"/>
                <a:ext cx="261068" cy="275821"/>
              </a:xfrm>
              <a:prstGeom prst="rtTriangl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9" name="Right Triangle 248">
                <a:extLst>
                  <a:ext uri="{FF2B5EF4-FFF2-40B4-BE49-F238E27FC236}">
                    <a16:creationId xmlns:a16="http://schemas.microsoft.com/office/drawing/2014/main" id="{A645EC74-EF77-34AA-ACC0-794FA571FF36}"/>
                  </a:ext>
                </a:extLst>
              </p:cNvPr>
              <p:cNvSpPr/>
              <p:nvPr/>
            </p:nvSpPr>
            <p:spPr>
              <a:xfrm rot="13440604">
                <a:off x="3083129" y="2802935"/>
                <a:ext cx="261068" cy="275821"/>
              </a:xfrm>
              <a:prstGeom prst="rtTriangl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Google Shape;795;p29">
                <a:extLst>
                  <a:ext uri="{FF2B5EF4-FFF2-40B4-BE49-F238E27FC236}">
                    <a16:creationId xmlns:a16="http://schemas.microsoft.com/office/drawing/2014/main" id="{4A836426-A14D-C2E6-B2D0-AF3F05E9EA25}"/>
                  </a:ext>
                </a:extLst>
              </p:cNvPr>
              <p:cNvSpPr/>
              <p:nvPr/>
            </p:nvSpPr>
            <p:spPr>
              <a:xfrm rot="5400000" flipH="1">
                <a:off x="3068586" y="2969343"/>
                <a:ext cx="765607" cy="145678"/>
              </a:xfrm>
              <a:prstGeom prst="cube">
                <a:avLst>
                  <a:gd name="adj" fmla="val 57213"/>
                </a:avLst>
              </a:prstGeom>
              <a:solidFill>
                <a:srgbClr val="D8D8D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</p:grpSp>
      </p:grpSp>
      <p:pic>
        <p:nvPicPr>
          <p:cNvPr id="1026" name="Picture 2" descr="Pallet icon, cargo symbol vector illustration. 27958789 Vector Art at  Vecteezy">
            <a:extLst>
              <a:ext uri="{FF2B5EF4-FFF2-40B4-BE49-F238E27FC236}">
                <a16:creationId xmlns:a16="http://schemas.microsoft.com/office/drawing/2014/main" id="{67CCEA56-58FE-8AD2-8F64-95B21B4D7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" t="17553" r="7412" b="17975"/>
          <a:stretch>
            <a:fillRect/>
          </a:stretch>
        </p:blipFill>
        <p:spPr bwMode="auto">
          <a:xfrm>
            <a:off x="2449536" y="2260721"/>
            <a:ext cx="1059024" cy="81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4976753E-BE4F-CD8D-BBAA-90A344DD0D71}"/>
              </a:ext>
            </a:extLst>
          </p:cNvPr>
          <p:cNvCxnSpPr>
            <a:cxnSpLocks/>
          </p:cNvCxnSpPr>
          <p:nvPr/>
        </p:nvCxnSpPr>
        <p:spPr>
          <a:xfrm flipH="1">
            <a:off x="2143308" y="3013339"/>
            <a:ext cx="340171" cy="98608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" name="Picture 2" descr="Pallet icon, cargo symbol vector illustration. 27958789 Vector Art at  Vecteezy">
            <a:extLst>
              <a:ext uri="{FF2B5EF4-FFF2-40B4-BE49-F238E27FC236}">
                <a16:creationId xmlns:a16="http://schemas.microsoft.com/office/drawing/2014/main" id="{0826844F-6262-799B-127F-D9995BBA7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" t="17553" r="7412" b="17975"/>
          <a:stretch>
            <a:fillRect/>
          </a:stretch>
        </p:blipFill>
        <p:spPr bwMode="auto">
          <a:xfrm>
            <a:off x="2045241" y="3171324"/>
            <a:ext cx="1167298" cy="89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75F7890-A2E6-A0A3-54FC-BA42934E90E7}"/>
              </a:ext>
            </a:extLst>
          </p:cNvPr>
          <p:cNvCxnSpPr>
            <a:cxnSpLocks/>
          </p:cNvCxnSpPr>
          <p:nvPr/>
        </p:nvCxnSpPr>
        <p:spPr>
          <a:xfrm flipH="1">
            <a:off x="3146314" y="3080547"/>
            <a:ext cx="315946" cy="83169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35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9524-12CE-6E93-9CD3-4B5FBF82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Architecture of SSCC++ interpretation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991E29-0FFC-6CD0-9728-45F76ECF660E}"/>
              </a:ext>
            </a:extLst>
          </p:cNvPr>
          <p:cNvGrpSpPr/>
          <p:nvPr/>
        </p:nvGrpSpPr>
        <p:grpSpPr>
          <a:xfrm>
            <a:off x="2589212" y="1608542"/>
            <a:ext cx="7772400" cy="2022360"/>
            <a:chOff x="2589212" y="1608542"/>
            <a:chExt cx="7772400" cy="20223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5AF0FF-500A-BC07-D8AE-E897F5EC3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258" t="32848" r="258" b="28123"/>
            <a:stretch>
              <a:fillRect/>
            </a:stretch>
          </p:blipFill>
          <p:spPr>
            <a:xfrm>
              <a:off x="2589212" y="1608542"/>
              <a:ext cx="7772400" cy="2022360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34B46B4D-F697-18D5-38C1-B3121513EEC2}"/>
                </a:ext>
              </a:extLst>
            </p:cNvPr>
            <p:cNvSpPr txBox="1">
              <a:spLocks/>
            </p:cNvSpPr>
            <p:nvPr/>
          </p:nvSpPr>
          <p:spPr>
            <a:xfrm>
              <a:off x="7900965" y="3227098"/>
              <a:ext cx="1476642" cy="38383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113A68"/>
                  </a:solidFill>
                </a:rPr>
                <a:t>encoded URL</a:t>
              </a: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5E7097-FABE-02F6-F8D1-334C54DDC2E5}"/>
              </a:ext>
            </a:extLst>
          </p:cNvPr>
          <p:cNvSpPr txBox="1">
            <a:spLocks/>
          </p:cNvSpPr>
          <p:nvPr/>
        </p:nvSpPr>
        <p:spPr>
          <a:xfrm>
            <a:off x="2589212" y="3741377"/>
            <a:ext cx="9112217" cy="2559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8000"/>
              </a:lnSpc>
              <a:buNone/>
            </a:pPr>
            <a:r>
              <a:rPr lang="en-US" dirty="0"/>
              <a:t>The typical data flow of interpret SSCC++ is SSCC++encoded tags </a:t>
            </a:r>
            <a:r>
              <a:rPr lang="en-US" dirty="0">
                <a:sym typeface="Wingdings" pitchFamily="2" charset="2"/>
              </a:rPr>
              <a:t> RFID reader  EPC  interpret EPC to gain SSCC value  send Web call by SSCC value encoded URL  Get value:</a:t>
            </a:r>
          </a:p>
          <a:p>
            <a:pPr fontAlgn="base"/>
            <a:r>
              <a:rPr lang="en-US" dirty="0"/>
              <a:t>SSCC++ encoded tags: Physical RFID tags encoded with SSCC++.​</a:t>
            </a:r>
          </a:p>
          <a:p>
            <a:pPr fontAlgn="base"/>
            <a:r>
              <a:rPr lang="en-US" dirty="0"/>
              <a:t>RFID reader: Captures EPC from the tags.​</a:t>
            </a:r>
          </a:p>
          <a:p>
            <a:pPr fontAlgn="base"/>
            <a:r>
              <a:rPr lang="en-US" dirty="0"/>
              <a:t>EPC interpretation: Convert EPC to SSCC value.​</a:t>
            </a:r>
          </a:p>
          <a:p>
            <a:pPr fontAlgn="base"/>
            <a:r>
              <a:rPr lang="en-US" dirty="0"/>
              <a:t> Web call: Construct URL with encoded SSCC.​</a:t>
            </a:r>
          </a:p>
          <a:p>
            <a:pPr fontAlgn="base"/>
            <a:r>
              <a:rPr lang="en-US" dirty="0"/>
              <a:t> Response: Retrieve associated data to drive robot actions.​</a:t>
            </a:r>
          </a:p>
        </p:txBody>
      </p:sp>
    </p:spTree>
    <p:extLst>
      <p:ext uri="{BB962C8B-B14F-4D97-AF65-F5344CB8AC3E}">
        <p14:creationId xmlns:p14="http://schemas.microsoft.com/office/powerpoint/2010/main" val="422799702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407</TotalTime>
  <Words>219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Century Gothic</vt:lpstr>
      <vt:lpstr>Times New Roman</vt:lpstr>
      <vt:lpstr>Wingdings</vt:lpstr>
      <vt:lpstr>Wingdings 3</vt:lpstr>
      <vt:lpstr>Wisp</vt:lpstr>
      <vt:lpstr>SSCC++ Inspection Robot</vt:lpstr>
      <vt:lpstr>Goal and Background</vt:lpstr>
      <vt:lpstr>Tentative Scenario</vt:lpstr>
      <vt:lpstr>Typical Architecture of SSCC++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Zhang</dc:creator>
  <cp:lastModifiedBy>Jian Zhang</cp:lastModifiedBy>
  <cp:revision>5</cp:revision>
  <dcterms:created xsi:type="dcterms:W3CDTF">2026-01-21T15:15:57Z</dcterms:created>
  <dcterms:modified xsi:type="dcterms:W3CDTF">2026-03-20T15:38:43Z</dcterms:modified>
</cp:coreProperties>
</file>