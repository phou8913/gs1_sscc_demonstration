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578"/>
    <p:restoredTop sz="94587"/>
  </p:normalViewPr>
  <p:slideViewPr>
    <p:cSldViewPr snapToGrid="0">
      <p:cViewPr varScale="1">
        <p:scale>
          <a:sx n="110" d="100"/>
          <a:sy n="110" d="100"/>
        </p:scale>
        <p:origin x="1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B61BEF0D-F0BB-DE4B-95CE-6DB70DBA9567}" type="datetimeFigureOut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B61BEF0D-F0BB-DE4B-95CE-6DB70DBA9567}" type="datetimeFigureOut">
              <a:rPr lang="en-US" smtClean="0"/>
              <a:pPr/>
              <a:t>1/21/26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D1618-34E9-680F-052A-3FAECA55E2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SSCC++ Inspection Robot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2F6FB2-CE9B-5E77-B691-A7140BC4E2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Design and concept of a robotic demonstration for SSCC++ RFID technique</a:t>
            </a:r>
          </a:p>
          <a:p>
            <a:pPr algn="r"/>
            <a:r>
              <a:rPr lang="en-US" dirty="0"/>
              <a:t>Author: Jian Zhang</a:t>
            </a:r>
          </a:p>
          <a:p>
            <a:pPr algn="r"/>
            <a:r>
              <a:rPr lang="en-US" dirty="0"/>
              <a:t>January 21</a:t>
            </a:r>
            <a:r>
              <a:rPr lang="en-US" baseline="30000" dirty="0"/>
              <a:t>st, </a:t>
            </a:r>
            <a:r>
              <a:rPr lang="en-US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2458195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65CC5-18FC-85DF-E40A-0A12CE449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4290" y="637363"/>
            <a:ext cx="8911687" cy="614968"/>
          </a:xfrm>
        </p:spPr>
        <p:txBody>
          <a:bodyPr>
            <a:normAutofit fontScale="90000"/>
          </a:bodyPr>
          <a:lstStyle/>
          <a:p>
            <a:r>
              <a:rPr lang="en-US" dirty="0"/>
              <a:t>Goal and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2704B-3051-3DAE-0325-DF3D1ABE8A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4290" y="1444487"/>
            <a:ext cx="8915400" cy="377762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mobile robot capable of interpreting </a:t>
            </a:r>
            <a:r>
              <a:rPr lang="en-US" b="1" dirty="0"/>
              <a:t>SSCC++-encoded RFID data</a:t>
            </a:r>
            <a:r>
              <a:rPr lang="en-US" dirty="0"/>
              <a:t>, demonstrating the advantages of the </a:t>
            </a:r>
            <a:r>
              <a:rPr lang="en-US" b="1" dirty="0"/>
              <a:t>SSCC++ protocol</a:t>
            </a:r>
            <a:r>
              <a:rPr lang="en-US" dirty="0"/>
              <a:t> at the </a:t>
            </a:r>
            <a:r>
              <a:rPr lang="en-US" b="1" dirty="0"/>
              <a:t>GS1 Connect 2026 Conference</a:t>
            </a:r>
            <a:r>
              <a:rPr lang="en-US" dirty="0"/>
              <a:t>.</a:t>
            </a:r>
          </a:p>
          <a:p>
            <a:r>
              <a:rPr lang="en-US" dirty="0"/>
              <a:t>A robot can proactively read SSCC++  RFID data</a:t>
            </a:r>
          </a:p>
          <a:p>
            <a:r>
              <a:rPr lang="en-US" dirty="0"/>
              <a:t>Validate the data from tag to action properly, for example to search the child tags if they all present.</a:t>
            </a:r>
          </a:p>
          <a:p>
            <a:r>
              <a:rPr lang="en-US" dirty="0"/>
              <a:t>Show the results </a:t>
            </a:r>
          </a:p>
        </p:txBody>
      </p:sp>
    </p:spTree>
    <p:extLst>
      <p:ext uri="{BB962C8B-B14F-4D97-AF65-F5344CB8AC3E}">
        <p14:creationId xmlns:p14="http://schemas.microsoft.com/office/powerpoint/2010/main" val="16662601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176C9-BA9F-066E-A4C5-F6919DBEA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Tentative Scenario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B496D-2DA5-E7AA-BFA5-0F47E8260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0099" y="2110616"/>
            <a:ext cx="7298258" cy="3777622"/>
          </a:xfrm>
        </p:spPr>
        <p:txBody>
          <a:bodyPr/>
          <a:lstStyle/>
          <a:p>
            <a:endParaRPr lang="en-US" dirty="0"/>
          </a:p>
        </p:txBody>
      </p:sp>
      <p:grpSp>
        <p:nvGrpSpPr>
          <p:cNvPr id="1028" name="Group 1027">
            <a:extLst>
              <a:ext uri="{FF2B5EF4-FFF2-40B4-BE49-F238E27FC236}">
                <a16:creationId xmlns:a16="http://schemas.microsoft.com/office/drawing/2014/main" id="{DCD89992-28D9-F9EF-7C0B-FFFA8E25261B}"/>
              </a:ext>
            </a:extLst>
          </p:cNvPr>
          <p:cNvGrpSpPr/>
          <p:nvPr/>
        </p:nvGrpSpPr>
        <p:grpSpPr>
          <a:xfrm>
            <a:off x="1005192" y="2247731"/>
            <a:ext cx="1020377" cy="1395911"/>
            <a:chOff x="1005192" y="2247731"/>
            <a:chExt cx="1020377" cy="1395911"/>
          </a:xfrm>
        </p:grpSpPr>
        <p:sp>
          <p:nvSpPr>
            <p:cNvPr id="63" name="Google Shape;902;p30">
              <a:extLst>
                <a:ext uri="{FF2B5EF4-FFF2-40B4-BE49-F238E27FC236}">
                  <a16:creationId xmlns:a16="http://schemas.microsoft.com/office/drawing/2014/main" id="{376A26C0-4054-A89A-B817-13EC48E06E4E}"/>
                </a:ext>
              </a:extLst>
            </p:cNvPr>
            <p:cNvSpPr txBox="1"/>
            <p:nvPr/>
          </p:nvSpPr>
          <p:spPr>
            <a:xfrm>
              <a:off x="1005192" y="3305088"/>
              <a:ext cx="1020377" cy="3385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0" rIns="91425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 i="0" u="none" strike="noStrike" cap="none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rPr>
                <a:t>RFID enabled Robots</a:t>
              </a: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51" name="Group 250">
              <a:extLst>
                <a:ext uri="{FF2B5EF4-FFF2-40B4-BE49-F238E27FC236}">
                  <a16:creationId xmlns:a16="http://schemas.microsoft.com/office/drawing/2014/main" id="{8D4472A9-9A91-02F2-81F6-FF6E3D1DC21B}"/>
                </a:ext>
              </a:extLst>
            </p:cNvPr>
            <p:cNvGrpSpPr/>
            <p:nvPr/>
          </p:nvGrpSpPr>
          <p:grpSpPr>
            <a:xfrm>
              <a:off x="1166566" y="2247731"/>
              <a:ext cx="740916" cy="1068378"/>
              <a:chOff x="3064814" y="2659378"/>
              <a:chExt cx="740916" cy="1068378"/>
            </a:xfrm>
          </p:grpSpPr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8CDFFF8F-1804-D82C-1653-B8F3CDC1C41E}"/>
                  </a:ext>
                </a:extLst>
              </p:cNvPr>
              <p:cNvGrpSpPr/>
              <p:nvPr/>
            </p:nvGrpSpPr>
            <p:grpSpPr>
              <a:xfrm flipH="1">
                <a:off x="3637903" y="3484633"/>
                <a:ext cx="147768" cy="137160"/>
                <a:chOff x="4975875" y="4806622"/>
                <a:chExt cx="137160" cy="137160"/>
              </a:xfrm>
            </p:grpSpPr>
            <p:sp>
              <p:nvSpPr>
                <p:cNvPr id="105" name="Donut 104">
                  <a:extLst>
                    <a:ext uri="{FF2B5EF4-FFF2-40B4-BE49-F238E27FC236}">
                      <a16:creationId xmlns:a16="http://schemas.microsoft.com/office/drawing/2014/main" id="{D6A3B7AB-D5DA-6781-EC98-C813DCEA9192}"/>
                    </a:ext>
                  </a:extLst>
                </p:cNvPr>
                <p:cNvSpPr/>
                <p:nvPr/>
              </p:nvSpPr>
              <p:spPr>
                <a:xfrm>
                  <a:off x="4975875" y="4806622"/>
                  <a:ext cx="137160" cy="137160"/>
                </a:xfrm>
                <a:prstGeom prst="donut">
                  <a:avLst>
                    <a:gd name="adj" fmla="val 25928"/>
                  </a:avLst>
                </a:prstGeom>
                <a:solidFill>
                  <a:srgbClr val="7F7F7F"/>
                </a:solidFill>
                <a:ln w="9525" cap="flat" cmpd="sng">
                  <a:solidFill>
                    <a:srgbClr val="1B3867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algn="ctr"/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6" name="Oval 105">
                  <a:extLst>
                    <a:ext uri="{FF2B5EF4-FFF2-40B4-BE49-F238E27FC236}">
                      <a16:creationId xmlns:a16="http://schemas.microsoft.com/office/drawing/2014/main" id="{470E1FCB-CAFE-3924-886E-20E26DC8801F}"/>
                    </a:ext>
                  </a:extLst>
                </p:cNvPr>
                <p:cNvSpPr/>
                <p:nvPr/>
              </p:nvSpPr>
              <p:spPr>
                <a:xfrm>
                  <a:off x="5014292" y="4845325"/>
                  <a:ext cx="59635" cy="59635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82" name="Google Shape;792;p29">
                <a:extLst>
                  <a:ext uri="{FF2B5EF4-FFF2-40B4-BE49-F238E27FC236}">
                    <a16:creationId xmlns:a16="http://schemas.microsoft.com/office/drawing/2014/main" id="{E37C6F22-2C28-7E48-7266-40FC6C40B819}"/>
                  </a:ext>
                </a:extLst>
              </p:cNvPr>
              <p:cNvSpPr/>
              <p:nvPr/>
            </p:nvSpPr>
            <p:spPr>
              <a:xfrm rot="5400000" flipH="1">
                <a:off x="3273901" y="3128826"/>
                <a:ext cx="308564" cy="726737"/>
              </a:xfrm>
              <a:prstGeom prst="cube">
                <a:avLst>
                  <a:gd name="adj" fmla="val 41611"/>
                </a:avLst>
              </a:prstGeom>
              <a:solidFill>
                <a:srgbClr val="D8D8D8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0" i="0" u="none" strike="noStrike" cap="none" dirty="0">
                  <a:solidFill>
                    <a:schemeClr val="lt1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endParaRPr>
              </a:p>
            </p:txBody>
          </p:sp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FE8FF132-19F5-70F4-D294-47079B00B668}"/>
                  </a:ext>
                </a:extLst>
              </p:cNvPr>
              <p:cNvGrpSpPr/>
              <p:nvPr/>
            </p:nvGrpSpPr>
            <p:grpSpPr>
              <a:xfrm flipH="1">
                <a:off x="3482258" y="3587421"/>
                <a:ext cx="147768" cy="137160"/>
                <a:chOff x="4975875" y="4806622"/>
                <a:chExt cx="137160" cy="137160"/>
              </a:xfrm>
            </p:grpSpPr>
            <p:sp>
              <p:nvSpPr>
                <p:cNvPr id="103" name="Donut 102">
                  <a:extLst>
                    <a:ext uri="{FF2B5EF4-FFF2-40B4-BE49-F238E27FC236}">
                      <a16:creationId xmlns:a16="http://schemas.microsoft.com/office/drawing/2014/main" id="{F9073317-EAB8-FD38-3435-CC03C7CC2C89}"/>
                    </a:ext>
                  </a:extLst>
                </p:cNvPr>
                <p:cNvSpPr/>
                <p:nvPr/>
              </p:nvSpPr>
              <p:spPr>
                <a:xfrm>
                  <a:off x="4975875" y="4806622"/>
                  <a:ext cx="137160" cy="137160"/>
                </a:xfrm>
                <a:prstGeom prst="donut">
                  <a:avLst>
                    <a:gd name="adj" fmla="val 25928"/>
                  </a:avLst>
                </a:prstGeom>
                <a:solidFill>
                  <a:srgbClr val="7F7F7F"/>
                </a:solidFill>
                <a:ln w="9525" cap="flat" cmpd="sng">
                  <a:solidFill>
                    <a:srgbClr val="1B3867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algn="ctr"/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4" name="Oval 103">
                  <a:extLst>
                    <a:ext uri="{FF2B5EF4-FFF2-40B4-BE49-F238E27FC236}">
                      <a16:creationId xmlns:a16="http://schemas.microsoft.com/office/drawing/2014/main" id="{8263840A-B6B1-2570-87D7-2283FEF93155}"/>
                    </a:ext>
                  </a:extLst>
                </p:cNvPr>
                <p:cNvSpPr/>
                <p:nvPr/>
              </p:nvSpPr>
              <p:spPr>
                <a:xfrm>
                  <a:off x="5014292" y="4845325"/>
                  <a:ext cx="59635" cy="59635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D46BC638-514E-447B-FBCF-FB80448632F7}"/>
                  </a:ext>
                </a:extLst>
              </p:cNvPr>
              <p:cNvGrpSpPr/>
              <p:nvPr/>
            </p:nvGrpSpPr>
            <p:grpSpPr>
              <a:xfrm flipH="1">
                <a:off x="3084486" y="3590596"/>
                <a:ext cx="147768" cy="137160"/>
                <a:chOff x="4975875" y="4806622"/>
                <a:chExt cx="137160" cy="137160"/>
              </a:xfrm>
            </p:grpSpPr>
            <p:sp>
              <p:nvSpPr>
                <p:cNvPr id="101" name="Donut 100">
                  <a:extLst>
                    <a:ext uri="{FF2B5EF4-FFF2-40B4-BE49-F238E27FC236}">
                      <a16:creationId xmlns:a16="http://schemas.microsoft.com/office/drawing/2014/main" id="{30EB72E2-6440-76F9-CD99-5A45DB067676}"/>
                    </a:ext>
                  </a:extLst>
                </p:cNvPr>
                <p:cNvSpPr/>
                <p:nvPr/>
              </p:nvSpPr>
              <p:spPr>
                <a:xfrm>
                  <a:off x="4975875" y="4806622"/>
                  <a:ext cx="137160" cy="137160"/>
                </a:xfrm>
                <a:prstGeom prst="donut">
                  <a:avLst>
                    <a:gd name="adj" fmla="val 25928"/>
                  </a:avLst>
                </a:prstGeom>
                <a:solidFill>
                  <a:srgbClr val="7F7F7F"/>
                </a:solidFill>
                <a:ln w="9525" cap="flat" cmpd="sng">
                  <a:solidFill>
                    <a:srgbClr val="1B3867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algn="ctr"/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90695F8F-281E-78E7-DCD6-5BF4D7E6645E}"/>
                    </a:ext>
                  </a:extLst>
                </p:cNvPr>
                <p:cNvSpPr/>
                <p:nvPr/>
              </p:nvSpPr>
              <p:spPr>
                <a:xfrm>
                  <a:off x="5014292" y="4845325"/>
                  <a:ext cx="59635" cy="59635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48" name="Right Triangle 247">
                <a:extLst>
                  <a:ext uri="{FF2B5EF4-FFF2-40B4-BE49-F238E27FC236}">
                    <a16:creationId xmlns:a16="http://schemas.microsoft.com/office/drawing/2014/main" id="{E92AAFAB-D9D6-D152-978F-BA80061D62DE}"/>
                  </a:ext>
                </a:extLst>
              </p:cNvPr>
              <p:cNvSpPr/>
              <p:nvPr/>
            </p:nvSpPr>
            <p:spPr>
              <a:xfrm rot="2789572">
                <a:off x="3537286" y="2780535"/>
                <a:ext cx="261068" cy="275821"/>
              </a:xfrm>
              <a:prstGeom prst="rtTriangle">
                <a:avLst/>
              </a:prstGeom>
              <a:solidFill>
                <a:schemeClr val="bg1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49" name="Right Triangle 248">
                <a:extLst>
                  <a:ext uri="{FF2B5EF4-FFF2-40B4-BE49-F238E27FC236}">
                    <a16:creationId xmlns:a16="http://schemas.microsoft.com/office/drawing/2014/main" id="{A645EC74-EF77-34AA-ACC0-794FA571FF36}"/>
                  </a:ext>
                </a:extLst>
              </p:cNvPr>
              <p:cNvSpPr/>
              <p:nvPr/>
            </p:nvSpPr>
            <p:spPr>
              <a:xfrm rot="13440604">
                <a:off x="3083129" y="2802935"/>
                <a:ext cx="261068" cy="275821"/>
              </a:xfrm>
              <a:prstGeom prst="rtTriangle">
                <a:avLst/>
              </a:prstGeom>
              <a:solidFill>
                <a:schemeClr val="bg1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5" name="Google Shape;795;p29">
                <a:extLst>
                  <a:ext uri="{FF2B5EF4-FFF2-40B4-BE49-F238E27FC236}">
                    <a16:creationId xmlns:a16="http://schemas.microsoft.com/office/drawing/2014/main" id="{4A836426-A14D-C2E6-B2D0-AF3F05E9EA25}"/>
                  </a:ext>
                </a:extLst>
              </p:cNvPr>
              <p:cNvSpPr/>
              <p:nvPr/>
            </p:nvSpPr>
            <p:spPr>
              <a:xfrm rot="5400000" flipH="1">
                <a:off x="3068586" y="2969343"/>
                <a:ext cx="765607" cy="145678"/>
              </a:xfrm>
              <a:prstGeom prst="cube">
                <a:avLst>
                  <a:gd name="adj" fmla="val 57213"/>
                </a:avLst>
              </a:prstGeom>
              <a:solidFill>
                <a:srgbClr val="D8D8D8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b="0" i="0" u="none" strike="noStrike" cap="none">
                  <a:solidFill>
                    <a:schemeClr val="lt1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endParaRPr>
              </a:p>
            </p:txBody>
          </p:sp>
        </p:grpSp>
      </p:grpSp>
      <p:pic>
        <p:nvPicPr>
          <p:cNvPr id="1026" name="Picture 2" descr="Pallet icon, cargo symbol vector illustration. 27958789 Vector Art at  Vecteezy">
            <a:extLst>
              <a:ext uri="{FF2B5EF4-FFF2-40B4-BE49-F238E27FC236}">
                <a16:creationId xmlns:a16="http://schemas.microsoft.com/office/drawing/2014/main" id="{67CCEA56-58FE-8AD2-8F64-95B21B4D7C6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29" t="17553" r="7412" b="17975"/>
          <a:stretch>
            <a:fillRect/>
          </a:stretch>
        </p:blipFill>
        <p:spPr bwMode="auto">
          <a:xfrm>
            <a:off x="2449536" y="2260721"/>
            <a:ext cx="1059024" cy="812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25" name="Straight Connector 1024">
            <a:extLst>
              <a:ext uri="{FF2B5EF4-FFF2-40B4-BE49-F238E27FC236}">
                <a16:creationId xmlns:a16="http://schemas.microsoft.com/office/drawing/2014/main" id="{4976753E-BE4F-CD8D-BBAA-90A344DD0D71}"/>
              </a:ext>
            </a:extLst>
          </p:cNvPr>
          <p:cNvCxnSpPr>
            <a:cxnSpLocks/>
          </p:cNvCxnSpPr>
          <p:nvPr/>
        </p:nvCxnSpPr>
        <p:spPr>
          <a:xfrm flipH="1">
            <a:off x="2143308" y="3013339"/>
            <a:ext cx="340171" cy="986088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3" name="Picture 2" descr="Pallet icon, cargo symbol vector illustration. 27958789 Vector Art at  Vecteezy">
            <a:extLst>
              <a:ext uri="{FF2B5EF4-FFF2-40B4-BE49-F238E27FC236}">
                <a16:creationId xmlns:a16="http://schemas.microsoft.com/office/drawing/2014/main" id="{0826844F-6262-799B-127F-D9995BBA751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29" t="17553" r="7412" b="17975"/>
          <a:stretch>
            <a:fillRect/>
          </a:stretch>
        </p:blipFill>
        <p:spPr bwMode="auto">
          <a:xfrm>
            <a:off x="2045241" y="3171324"/>
            <a:ext cx="1167298" cy="895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E75F7890-A2E6-A0A3-54FC-BA42934E90E7}"/>
              </a:ext>
            </a:extLst>
          </p:cNvPr>
          <p:cNvCxnSpPr>
            <a:cxnSpLocks/>
          </p:cNvCxnSpPr>
          <p:nvPr/>
        </p:nvCxnSpPr>
        <p:spPr>
          <a:xfrm flipH="1">
            <a:off x="3146314" y="3080547"/>
            <a:ext cx="315946" cy="831696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4355096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318</TotalTime>
  <Words>92</Words>
  <Application>Microsoft Macintosh PowerPoint</Application>
  <PresentationFormat>Widescreen</PresentationFormat>
  <Paragraphs>11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Century Gothic</vt:lpstr>
      <vt:lpstr>Times New Roman</vt:lpstr>
      <vt:lpstr>Wingdings 3</vt:lpstr>
      <vt:lpstr>Wisp</vt:lpstr>
      <vt:lpstr>SSCC++ Inspection Robot</vt:lpstr>
      <vt:lpstr>Goal and Background</vt:lpstr>
      <vt:lpstr>Tentative Scenario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Jian Zhang</dc:creator>
  <cp:lastModifiedBy>Jian Zhang</cp:lastModifiedBy>
  <cp:revision>5</cp:revision>
  <dcterms:created xsi:type="dcterms:W3CDTF">2026-01-21T15:15:57Z</dcterms:created>
  <dcterms:modified xsi:type="dcterms:W3CDTF">2026-01-21T21:51:23Z</dcterms:modified>
</cp:coreProperties>
</file>